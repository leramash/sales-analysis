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L Mashego" initials="NM" lastIdx="1" clrIdx="0">
    <p:extLst>
      <p:ext uri="{19B8F6BF-5375-455C-9EA6-DF929625EA0E}">
        <p15:presenceInfo xmlns:p15="http://schemas.microsoft.com/office/powerpoint/2012/main" userId="NL Masheg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3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Mashego%20Lerato%20Sales%20Case%20Study-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Mashego%20Lerato%20Sales%20Case%20Study-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Mashego%20Lerato%20Sales%20Case%20Study-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Mashego%20Lerato%20Sales%20Case%20Study-%20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L%20Mashego\Desktop\BrightLearn(DAT)\Mashego%20Lerato%20Sales%20Case%20Study-%20Exc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[Mashego Lerato Sales Case Study- Excel.xlsx]Yearly Sales Trends!PivotTable10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Yearly Sales Trends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'Yearly Sales Trends'!$B$3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CE-4655-8454-85031FBC10B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CE-4655-8454-85031FBC10B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CE-4655-8454-85031FBC10B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9CE-4655-8454-85031FBC10B3}"/>
              </c:ext>
            </c:extLst>
          </c:dPt>
          <c:cat>
            <c:strRef>
              <c:f>'Yearly Sales Trends'!$A$4:$A$8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'Yearly Sales Trends'!$B$4:$B$8</c:f>
              <c:numCache>
                <c:formatCode>General</c:formatCode>
                <c:ptCount val="4"/>
                <c:pt idx="0">
                  <c:v>524283.45250000001</c:v>
                </c:pt>
                <c:pt idx="1">
                  <c:v>75414975.711430043</c:v>
                </c:pt>
                <c:pt idx="2">
                  <c:v>64017593.387550026</c:v>
                </c:pt>
                <c:pt idx="3">
                  <c:v>46952975.705399998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9CE-4655-8454-85031FBC1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9208927"/>
        <c:axId val="1859215999"/>
      </c:barChart>
      <c:catAx>
        <c:axId val="18592089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215999"/>
        <c:crosses val="autoZero"/>
        <c:auto val="1"/>
        <c:lblAlgn val="ctr"/>
        <c:lblOffset val="100"/>
        <c:noMultiLvlLbl val="0"/>
      </c:catAx>
      <c:valAx>
        <c:axId val="1859215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R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92089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[Mashego Lerato Sales Case Study- Excel.xlsx]Sales by Quantity!PivotTable13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Sales by Price Band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'Sales by Quantity'!$B$3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79-4F95-91ED-1BDCA4C249BF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79-4F95-91ED-1BDCA4C249BF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79-4F95-91ED-1BDCA4C249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'Sales by Quantity'!$A$4:$A$7</c:f>
              <c:strCache>
                <c:ptCount val="3"/>
                <c:pt idx="0">
                  <c:v>30</c:v>
                </c:pt>
                <c:pt idx="1">
                  <c:v>35</c:v>
                </c:pt>
                <c:pt idx="2">
                  <c:v>40</c:v>
                </c:pt>
              </c:strCache>
            </c:strRef>
          </c:cat>
          <c:val>
            <c:numRef>
              <c:f>'Sales by Quantity'!$B$4:$B$7</c:f>
              <c:numCache>
                <c:formatCode>0.00%</c:formatCode>
                <c:ptCount val="3"/>
                <c:pt idx="0">
                  <c:v>0.49188008047054577</c:v>
                </c:pt>
                <c:pt idx="1">
                  <c:v>0.37886503842573294</c:v>
                </c:pt>
                <c:pt idx="2">
                  <c:v>0.12925488110372133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79-4F95-91ED-1BDCA4C249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[Mashego Lerato Sales Case Study- Excel.xlsx]Yearly Avg Sales!PivotTable15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Yearly Average Sales Price per Unit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'Yearly Avg Sales'!$B$3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84-42FD-BB32-7EA5343B372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184-42FD-BB32-7EA5343B372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184-42FD-BB32-7EA5343B372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184-42FD-BB32-7EA5343B3720}"/>
              </c:ext>
            </c:extLst>
          </c:dPt>
          <c:cat>
            <c:strRef>
              <c:f>'Yearly Avg Sales'!$A$4:$A$8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'Yearly Avg Sales'!$B$4:$B$8</c:f>
              <c:numCache>
                <c:formatCode>General</c:formatCode>
                <c:ptCount val="4"/>
                <c:pt idx="0">
                  <c:v>32.604266004196504</c:v>
                </c:pt>
                <c:pt idx="1">
                  <c:v>34.573533052708726</c:v>
                </c:pt>
                <c:pt idx="2">
                  <c:v>38.327482051730172</c:v>
                </c:pt>
                <c:pt idx="3">
                  <c:v>38.515992742311873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84-42FD-BB32-7EA5343B3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11892879"/>
        <c:axId val="1811891215"/>
      </c:barChart>
      <c:catAx>
        <c:axId val="1811892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891215"/>
        <c:crosses val="autoZero"/>
        <c:auto val="1"/>
        <c:lblAlgn val="ctr"/>
        <c:lblOffset val="100"/>
        <c:noMultiLvlLbl val="0"/>
      </c:catAx>
      <c:valAx>
        <c:axId val="1811891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1892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[Mashego Lerato Sales Case Study- Excel.xlsx]Quantity Sold!PivotTable1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Quantity sold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</c:pivotFmt>
      <c:pivotFmt>
        <c:idx val="41"/>
        <c:spPr>
          <a:solidFill>
            <a:schemeClr val="accent2"/>
          </a:solidFill>
          <a:ln>
            <a:noFill/>
          </a:ln>
          <a:effectLst/>
        </c:spPr>
      </c:pivotFmt>
      <c:pivotFmt>
        <c:idx val="42"/>
        <c:spPr>
          <a:solidFill>
            <a:schemeClr val="accent2"/>
          </a:solidFill>
          <a:ln>
            <a:noFill/>
          </a:ln>
          <a:effectLst/>
        </c:spPr>
      </c:pivotFmt>
      <c:pivotFmt>
        <c:idx val="43"/>
        <c:spPr>
          <a:solidFill>
            <a:schemeClr val="accent2"/>
          </a:solidFill>
          <a:ln>
            <a:noFill/>
          </a:ln>
          <a:effectLst/>
        </c:spPr>
      </c:pivotFmt>
      <c:pivotFmt>
        <c:idx val="44"/>
        <c:spPr>
          <a:solidFill>
            <a:schemeClr val="accent2"/>
          </a:solidFill>
          <a:ln>
            <a:noFill/>
          </a:ln>
          <a:effectLst/>
        </c:spPr>
      </c:pivotFmt>
      <c:pivotFmt>
        <c:idx val="45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'Quantity Sold'!$B$3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AC-4BE1-B28A-96A0ABCB789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AC-4BE1-B28A-96A0ABCB789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5AC-4BE1-B28A-96A0ABCB789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5AC-4BE1-B28A-96A0ABCB7891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5AC-4BE1-B28A-96A0ABCB7891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5AC-4BE1-B28A-96A0ABCB7891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5AC-4BE1-B28A-96A0ABCB7891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5AC-4BE1-B28A-96A0ABCB7891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5AC-4BE1-B28A-96A0ABCB7891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5AC-4BE1-B28A-96A0ABCB7891}"/>
              </c:ext>
            </c:extLst>
          </c:dPt>
          <c:cat>
            <c:strRef>
              <c:f>'Quantity Sold'!$A$4:$A$14</c:f>
              <c:strCache>
                <c:ptCount val="10"/>
                <c:pt idx="0">
                  <c:v>2266</c:v>
                </c:pt>
                <c:pt idx="1">
                  <c:v>2971</c:v>
                </c:pt>
                <c:pt idx="2">
                  <c:v>3540</c:v>
                </c:pt>
                <c:pt idx="3">
                  <c:v>3542</c:v>
                </c:pt>
                <c:pt idx="4">
                  <c:v>3657</c:v>
                </c:pt>
                <c:pt idx="5">
                  <c:v>3758</c:v>
                </c:pt>
                <c:pt idx="6">
                  <c:v>3841</c:v>
                </c:pt>
                <c:pt idx="7">
                  <c:v>4105</c:v>
                </c:pt>
                <c:pt idx="8">
                  <c:v>6534</c:v>
                </c:pt>
                <c:pt idx="9">
                  <c:v>9540</c:v>
                </c:pt>
              </c:strCache>
            </c:strRef>
          </c:cat>
          <c:val>
            <c:numRef>
              <c:f>'Quantity Sold'!$B$4:$B$14</c:f>
              <c:numCache>
                <c:formatCode>General</c:formatCode>
                <c:ptCount val="10"/>
                <c:pt idx="0">
                  <c:v>21267.074799999988</c:v>
                </c:pt>
                <c:pt idx="1">
                  <c:v>16255.427299999996</c:v>
                </c:pt>
                <c:pt idx="2">
                  <c:v>16252.536399999997</c:v>
                </c:pt>
                <c:pt idx="3">
                  <c:v>19256.482799999998</c:v>
                </c:pt>
                <c:pt idx="4">
                  <c:v>16556.777700000035</c:v>
                </c:pt>
                <c:pt idx="5">
                  <c:v>22986.943599999999</c:v>
                </c:pt>
                <c:pt idx="6">
                  <c:v>17829.243900000001</c:v>
                </c:pt>
                <c:pt idx="7">
                  <c:v>22002.524199999985</c:v>
                </c:pt>
                <c:pt idx="8">
                  <c:v>18746.17750000002</c:v>
                </c:pt>
                <c:pt idx="9">
                  <c:v>27831.94379999995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5AC-4BE1-B28A-96A0ABCB78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02531136"/>
        <c:axId val="602531968"/>
      </c:barChart>
      <c:catAx>
        <c:axId val="6025311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Quantity Sold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531968"/>
        <c:crosses val="autoZero"/>
        <c:auto val="1"/>
        <c:lblAlgn val="ctr"/>
        <c:lblOffset val="100"/>
        <c:noMultiLvlLbl val="0"/>
      </c:catAx>
      <c:valAx>
        <c:axId val="60253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Gross Profit 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2531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[Mashego Lerato Sales Case Study- Excel.xlsx]Sales Per Year!PivotTable3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ZA"/>
              <a:t>Sum of Sales Over Time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'Sales Per Year'!$B$3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F61-4D37-8598-737C8DA229A9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F61-4D37-8598-737C8DA229A9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F61-4D37-8598-737C8DA229A9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F61-4D37-8598-737C8DA229A9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F61-4D37-8598-737C8DA229A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F61-4D37-8598-737C8DA229A9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F61-4D37-8598-737C8DA229A9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8F61-4D37-8598-737C8DA229A9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8F61-4D37-8598-737C8DA229A9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8F61-4D37-8598-737C8DA229A9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8F61-4D37-8598-737C8DA229A9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F61-4D37-8598-737C8DA229A9}"/>
              </c:ext>
            </c:extLst>
          </c:dPt>
          <c:cat>
            <c:strRef>
              <c:f>'Sales Per Year'!$A$4:$A$16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Sept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'Sales Per Year'!$B$4:$B$16</c:f>
              <c:numCache>
                <c:formatCode>General</c:formatCode>
                <c:ptCount val="12"/>
                <c:pt idx="0">
                  <c:v>13107462.506360002</c:v>
                </c:pt>
                <c:pt idx="1">
                  <c:v>15573874.376409998</c:v>
                </c:pt>
                <c:pt idx="2">
                  <c:v>16500726.334140008</c:v>
                </c:pt>
                <c:pt idx="3">
                  <c:v>19056617.417739987</c:v>
                </c:pt>
                <c:pt idx="4">
                  <c:v>21249505.249619991</c:v>
                </c:pt>
                <c:pt idx="5">
                  <c:v>18560186.908220004</c:v>
                </c:pt>
                <c:pt idx="6">
                  <c:v>11936228.626380006</c:v>
                </c:pt>
                <c:pt idx="7">
                  <c:v>18288376.109930001</c:v>
                </c:pt>
                <c:pt idx="8">
                  <c:v>15572895.046040006</c:v>
                </c:pt>
                <c:pt idx="9">
                  <c:v>13082831.163689997</c:v>
                </c:pt>
                <c:pt idx="10">
                  <c:v>11020532.089199999</c:v>
                </c:pt>
                <c:pt idx="11">
                  <c:v>12960592.429149998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8F61-4D37-8598-737C8DA229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4883776"/>
        <c:axId val="754877536"/>
      </c:barChart>
      <c:catAx>
        <c:axId val="7548837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Months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4877536"/>
        <c:crosses val="autoZero"/>
        <c:auto val="1"/>
        <c:lblAlgn val="ctr"/>
        <c:lblOffset val="100"/>
        <c:noMultiLvlLbl val="0"/>
      </c:catAx>
      <c:valAx>
        <c:axId val="75487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ZA"/>
                  <a:t>Total Sale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R&quot;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4883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91260638924092274"/>
          <c:y val="7.9228094445293412E-2"/>
          <c:w val="7.4200998621874112E-2"/>
          <c:h val="0.729490695685511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12700" cap="flat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1-20T18:14:27.379" idx="1">
    <p:pos x="10" y="10"/>
    <p:text>hhgggg</p:text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4594"/>
            <a:ext cx="7772400" cy="1502228"/>
          </a:xfrm>
        </p:spPr>
        <p:txBody>
          <a:bodyPr/>
          <a:lstStyle/>
          <a:p>
            <a:r>
              <a:rPr b="1" dirty="0"/>
              <a:t>Sales Analysis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3772" y="4833258"/>
            <a:ext cx="7192736" cy="143691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dirty="0" smtClean="0">
                <a:solidFill>
                  <a:schemeClr val="tx1"/>
                </a:solidFill>
              </a:rPr>
              <a:t>Sales </a:t>
            </a:r>
            <a:r>
              <a:rPr lang="en-US" dirty="0">
                <a:solidFill>
                  <a:schemeClr val="tx1"/>
                </a:solidFill>
              </a:rPr>
              <a:t>Analysis project exploring daily retail sales data. </a:t>
            </a: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1,200+ Business Case Study Stock Photos, Pictures &amp; Royalt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579" y="2326823"/>
            <a:ext cx="4661808" cy="217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447"/>
            <a:ext cx="7772400" cy="1470025"/>
          </a:xfrm>
        </p:spPr>
        <p:txBody>
          <a:bodyPr/>
          <a:lstStyle/>
          <a:p>
            <a:r>
              <a:rPr lang="en-ZA" u="sng" dirty="0" smtClean="0"/>
              <a:t>Table of Content</a:t>
            </a:r>
            <a:endParaRPr lang="en-ZA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714499"/>
            <a:ext cx="6400800" cy="4310744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ZA" dirty="0" smtClean="0">
                <a:solidFill>
                  <a:schemeClr val="tx1"/>
                </a:solidFill>
              </a:rPr>
              <a:t>Yearly sales Trends</a:t>
            </a:r>
          </a:p>
          <a:p>
            <a:pPr marL="514350" indent="-514350">
              <a:buAutoNum type="arabicPeriod"/>
            </a:pPr>
            <a:r>
              <a:rPr lang="en-ZA" dirty="0" smtClean="0">
                <a:solidFill>
                  <a:schemeClr val="tx1"/>
                </a:solidFill>
              </a:rPr>
              <a:t>Total Sales per Band</a:t>
            </a:r>
          </a:p>
          <a:p>
            <a:pPr marL="514350" indent="-514350">
              <a:buAutoNum type="arabicPeriod"/>
            </a:pPr>
            <a:r>
              <a:rPr lang="en-ZA" dirty="0" smtClean="0">
                <a:solidFill>
                  <a:schemeClr val="tx1"/>
                </a:solidFill>
              </a:rPr>
              <a:t>Yearly Average Sales Per Unit</a:t>
            </a:r>
          </a:p>
          <a:p>
            <a:pPr marL="514350" indent="-514350">
              <a:buAutoNum type="arabicPeriod"/>
            </a:pPr>
            <a:r>
              <a:rPr lang="en-ZA" dirty="0" smtClean="0">
                <a:solidFill>
                  <a:schemeClr val="tx1"/>
                </a:solidFill>
              </a:rPr>
              <a:t> Top 10 Quantity Sold</a:t>
            </a:r>
          </a:p>
          <a:p>
            <a:pPr marL="514350" indent="-514350">
              <a:buAutoNum type="arabicPeriod"/>
            </a:pPr>
            <a:r>
              <a:rPr lang="en-ZA" dirty="0" smtClean="0">
                <a:solidFill>
                  <a:schemeClr val="tx1"/>
                </a:solidFill>
              </a:rPr>
              <a:t>Sales per Year</a:t>
            </a:r>
          </a:p>
          <a:p>
            <a:pPr marL="514350" indent="-514350">
              <a:buAutoNum type="arabicPeriod"/>
            </a:pPr>
            <a:r>
              <a:rPr lang="en-ZA" dirty="0" smtClean="0">
                <a:solidFill>
                  <a:schemeClr val="tx1"/>
                </a:solidFill>
              </a:rPr>
              <a:t>Summary</a:t>
            </a:r>
            <a:endParaRPr lang="en-Z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098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u="sng" dirty="0" smtClean="0"/>
              <a:t>Yearly</a:t>
            </a:r>
            <a:r>
              <a:rPr u="sng" dirty="0" smtClean="0"/>
              <a:t> </a:t>
            </a:r>
            <a:r>
              <a:rPr u="sng" dirty="0"/>
              <a:t>Sales Trend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52" y="3243056"/>
            <a:ext cx="182896" cy="371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16299" y="1417638"/>
            <a:ext cx="6382838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highest sales occurred in </a:t>
            </a:r>
            <a:r>
              <a:rPr lang="en-US" b="1" dirty="0"/>
              <a:t>2014</a:t>
            </a:r>
            <a:r>
              <a:rPr lang="en-US" dirty="0"/>
              <a:t>, reaching over R70,000,000.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in </a:t>
            </a:r>
            <a:r>
              <a:rPr lang="en-US" b="1" dirty="0"/>
              <a:t>2015</a:t>
            </a:r>
            <a:r>
              <a:rPr lang="en-US" dirty="0"/>
              <a:t> were approximately R65,000,000.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decreased in </a:t>
            </a:r>
            <a:r>
              <a:rPr lang="en-US" b="1" dirty="0"/>
              <a:t>2016</a:t>
            </a:r>
            <a:r>
              <a:rPr lang="en-US" dirty="0"/>
              <a:t> to about R45,000,000.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Sales in </a:t>
            </a:r>
            <a:r>
              <a:rPr lang="en-US" b="1" dirty="0"/>
              <a:t>2013</a:t>
            </a:r>
            <a:r>
              <a:rPr lang="en-US" dirty="0"/>
              <a:t> were minimal, less than R10,000,000.</a:t>
            </a:r>
          </a:p>
          <a:p>
            <a:endParaRPr dirty="0"/>
          </a:p>
        </p:txBody>
      </p:sp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6940795"/>
              </p:ext>
            </p:extLst>
          </p:nvPr>
        </p:nvGraphicFramePr>
        <p:xfrm>
          <a:off x="1853292" y="312692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Total Sales per Price Band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17716"/>
            <a:ext cx="671049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price bands are identified by a legend as 30, 35, and 40.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highest sales percentage (49.19%) is in the 35 price band.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lowest sales percentage (12.93%) is in the 40 price band.</a:t>
            </a:r>
          </a:p>
          <a:p>
            <a:endParaRPr dirty="0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995984"/>
              </p:ext>
            </p:extLst>
          </p:nvPr>
        </p:nvGraphicFramePr>
        <p:xfrm>
          <a:off x="1534886" y="2800350"/>
          <a:ext cx="4931229" cy="30044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Yearly Average Sales Price per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36915" y="1417638"/>
            <a:ext cx="56424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yearly sales trend shows how sales changed over </a:t>
            </a:r>
            <a:r>
              <a:rPr lang="en-US" dirty="0" smtClean="0"/>
              <a:t>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clear periods of </a:t>
            </a:r>
            <a:r>
              <a:rPr lang="en-US" dirty="0" smtClean="0"/>
              <a:t>growth and </a:t>
            </a:r>
            <a:r>
              <a:rPr lang="en-ZA" dirty="0"/>
              <a:t>strong product </a:t>
            </a:r>
            <a:r>
              <a:rPr lang="en-ZA" dirty="0" smtClean="0"/>
              <a:t>performance</a:t>
            </a:r>
            <a:endParaRPr lang="en-US" dirty="0" smtClean="0"/>
          </a:p>
          <a:p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0544532"/>
              </p:ext>
            </p:extLst>
          </p:nvPr>
        </p:nvGraphicFramePr>
        <p:xfrm>
          <a:off x="1821096" y="3249385"/>
          <a:ext cx="4874079" cy="283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u="sng" dirty="0" smtClean="0"/>
              <a:t>Top 10 Quantity Sold</a:t>
            </a:r>
            <a:endParaRPr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383720" y="1417638"/>
            <a:ext cx="7976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High-volume days significantly boost profitability, and focusing on the conditions surrounding these peak days (pricing, promotions, seasonality) can help replicate strong performance</a:t>
            </a:r>
            <a:r>
              <a:rPr lang="en-US" dirty="0" smtClean="0"/>
              <a:t>.</a:t>
            </a:r>
            <a:endParaRPr lang="en-ZA" dirty="0"/>
          </a:p>
          <a:p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6827620"/>
              </p:ext>
            </p:extLst>
          </p:nvPr>
        </p:nvGraphicFramePr>
        <p:xfrm>
          <a:off x="2106385" y="277585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smtClean="0"/>
              <a:t>Sales</a:t>
            </a:r>
            <a:r>
              <a:rPr lang="en-ZA" u="sng" dirty="0" smtClean="0"/>
              <a:t> per Year</a:t>
            </a:r>
            <a:endParaRPr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400051" y="1417638"/>
            <a:ext cx="81038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 follow a </a:t>
            </a:r>
            <a:r>
              <a:rPr lang="en-US" b="1" dirty="0"/>
              <a:t>clear seasonal pattern</a:t>
            </a:r>
            <a:r>
              <a:rPr lang="en-US" dirty="0"/>
              <a:t>, with mid-year months performing best</a:t>
            </a:r>
            <a:r>
              <a:rPr lang="en-US" dirty="0" smtClean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patterns suggest strong opportunities for targeted promotions and inventory planning during peak periods, while slower months may require pricing adjustments or marketing support.</a:t>
            </a:r>
            <a:endParaRPr lang="en-US" dirty="0" smtClean="0"/>
          </a:p>
          <a:p>
            <a:endParaRPr dirty="0"/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662296"/>
              </p:ext>
            </p:extLst>
          </p:nvPr>
        </p:nvGraphicFramePr>
        <p:xfrm>
          <a:off x="1882140" y="2952524"/>
          <a:ext cx="5726974" cy="3154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smtClean="0"/>
              <a:t>Summary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Sales performance varies across the year.</a:t>
            </a:r>
          </a:p>
          <a:p>
            <a:r>
              <a:rPr dirty="0" smtClean="0"/>
              <a:t>Price </a:t>
            </a:r>
            <a:r>
              <a:rPr dirty="0"/>
              <a:t>bands show different customer sensitivity.</a:t>
            </a:r>
          </a:p>
          <a:p>
            <a:r>
              <a:rPr dirty="0" smtClean="0"/>
              <a:t>Gross </a:t>
            </a:r>
            <a:r>
              <a:rPr dirty="0"/>
              <a:t>Profit % fluctuates with pricing.</a:t>
            </a:r>
          </a:p>
          <a:p>
            <a:r>
              <a:rPr dirty="0" smtClean="0"/>
              <a:t>Promotional </a:t>
            </a:r>
            <a:r>
              <a:rPr dirty="0"/>
              <a:t>pricing impacts demand.</a:t>
            </a:r>
          </a:p>
          <a:p>
            <a:r>
              <a:rPr dirty="0" smtClean="0"/>
              <a:t>Top </a:t>
            </a:r>
            <a:r>
              <a:rPr dirty="0"/>
              <a:t>sales days highlight seasonal behaviors.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261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Sales Analysis Case Study</vt:lpstr>
      <vt:lpstr>Table of Content</vt:lpstr>
      <vt:lpstr>Yearly Sales Trend</vt:lpstr>
      <vt:lpstr>Total Sales per Price Band</vt:lpstr>
      <vt:lpstr>Yearly Average Sales Price per Unit</vt:lpstr>
      <vt:lpstr>Top 10 Quantity Sold</vt:lpstr>
      <vt:lpstr>Sales per Year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Case Study</dc:title>
  <dc:subject/>
  <dc:creator>NL Mashego</dc:creator>
  <cp:keywords/>
  <dc:description>generated using python-pptx</dc:description>
  <cp:lastModifiedBy>NL Mashego</cp:lastModifiedBy>
  <cp:revision>8</cp:revision>
  <dcterms:created xsi:type="dcterms:W3CDTF">2013-01-27T09:14:16Z</dcterms:created>
  <dcterms:modified xsi:type="dcterms:W3CDTF">2025-11-20T18:43:37Z</dcterms:modified>
  <cp:category/>
</cp:coreProperties>
</file>